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0F1AA2B-8848-4EDD-82DD-702C4951FE1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FC3E5D-D313-49B5-B22A-FBA0E2782A0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C71B44-3202-488D-AA01-D6742A3BAA8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030AD6-114F-4B2B-A652-64AD4E7E61C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93BC3A-615F-4C23-85E1-F4C4E2BD7DF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E2D648-9D64-4F30-A352-9F5DEC7FB85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6060D5-8264-4F53-BDA8-44027BBB261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1A0976-94A8-4102-A0BC-6ABC85F50FB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9C2C93-DE6B-4213-A5B2-CFAB79F3311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9BF50B-B35C-43C8-9B1B-88BBF2522E6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7A5A93-4499-4E01-876B-C1744C9D89F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DFAE6C-2373-4908-AEA9-DB6C4CDFF79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943600" y="-1371600"/>
            <a:ext cx="5486040" cy="548604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858000" y="-731520"/>
            <a:ext cx="3657240" cy="3657240"/>
          </a:xfrm>
          <a:prstGeom prst="ellipse">
            <a:avLst/>
          </a:prstGeom>
          <a:solidFill>
            <a:srgbClr val="38bfa0">
              <a:alpha val="10000"/>
            </a:srgbClr>
          </a:solidFill>
          <a:ln w="12700">
            <a:solidFill>
              <a:srgbClr val="38bfa0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57200" y="1280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400" strike="noStrike" u="none">
                <a:solidFill>
                  <a:srgbClr val="4f8ef7"/>
                </a:solidFill>
                <a:effectLst/>
                <a:uFillTx/>
                <a:latin typeface="Calibri"/>
                <a:ea typeface="Calibri"/>
              </a:rPr>
              <a:t>FINAL PROJECT PRESENTATION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57200" y="1691640"/>
            <a:ext cx="6400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DevDocs</a:t>
            </a:r>
            <a:endParaRPr b="0" lang="en-US" sz="6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57200" y="2788920"/>
            <a:ext cx="594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A beginner developer documentation website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built from scratch using HTML, CSS &amp; JavaScript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457200" y="4160520"/>
            <a:ext cx="1462680" cy="3470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57200" y="416052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f8ef7"/>
                </a:solidFill>
                <a:effectLst/>
                <a:uFillTx/>
                <a:latin typeface="Calibri"/>
                <a:ea typeface="Calibri"/>
              </a:rPr>
              <a:t>HTML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2084760" y="4160520"/>
            <a:ext cx="1462680" cy="3470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2084760" y="416052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f8ef7"/>
                </a:solidFill>
                <a:effectLst/>
                <a:uFillTx/>
                <a:latin typeface="Calibri"/>
                <a:ea typeface="Calibri"/>
              </a:rPr>
              <a:t>CSS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3712320" y="4160520"/>
            <a:ext cx="1462680" cy="3470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3712320" y="416052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f8ef7"/>
                </a:solidFill>
                <a:effectLst/>
                <a:uFillTx/>
                <a:latin typeface="Calibri"/>
                <a:ea typeface="Calibri"/>
              </a:rPr>
              <a:t>JavaScript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5340240" y="4160520"/>
            <a:ext cx="1462680" cy="3470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5340240" y="416052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f8ef7"/>
                </a:solidFill>
                <a:effectLst/>
                <a:uFillTx/>
                <a:latin typeface="Calibri"/>
                <a:ea typeface="Calibri"/>
              </a:rPr>
              <a:t>Responsive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6967800" y="4160520"/>
            <a:ext cx="1462680" cy="3470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6967800" y="416052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f8ef7"/>
                </a:solidFill>
                <a:effectLst/>
                <a:uFillTx/>
                <a:latin typeface="Calibri"/>
                <a:ea typeface="Calibri"/>
              </a:rPr>
              <a:t>Multi-page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457200" y="2286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4f8ef7"/>
                </a:solidFill>
                <a:effectLst/>
                <a:uFillTx/>
                <a:latin typeface="Calibri"/>
                <a:ea typeface="Calibri"/>
              </a:rPr>
              <a:t>OVERVIEW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457200" y="5486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is DevDocs?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457200" y="1325880"/>
            <a:ext cx="411444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DevDocs is a beginner-focused developer documentation website — the kind of resource that actually explains things in plain English for students coming from non-IT backgrounds.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It was designed and built from scratch using only HTML, CSS, and vanilla JavaScript — no frameworks, no libraries.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The goal was to create something that looks and works like a real documentation site while being a learning resource itself.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4"/>
          <p:cNvSpPr/>
          <p:nvPr/>
        </p:nvSpPr>
        <p:spPr>
          <a:xfrm>
            <a:off x="5029200" y="1325880"/>
            <a:ext cx="1919880" cy="132552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5"/>
          <p:cNvSpPr/>
          <p:nvPr/>
        </p:nvSpPr>
        <p:spPr>
          <a:xfrm>
            <a:off x="5029200" y="1325880"/>
            <a:ext cx="1919880" cy="5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5029200" y="146304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4f8ef7"/>
                </a:solidFill>
                <a:effectLst/>
                <a:uFillTx/>
                <a:latin typeface="Calibri"/>
                <a:ea typeface="Calibri"/>
              </a:rPr>
              <a:t>7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5029200" y="20757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Pages Built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7086600" y="1325880"/>
            <a:ext cx="1919880" cy="132552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9"/>
          <p:cNvSpPr/>
          <p:nvPr/>
        </p:nvSpPr>
        <p:spPr>
          <a:xfrm>
            <a:off x="7086600" y="1325880"/>
            <a:ext cx="1919880" cy="54360"/>
          </a:xfrm>
          <a:prstGeom prst="rect">
            <a:avLst/>
          </a:prstGeom>
          <a:solidFill>
            <a:srgbClr val="38bfa0"/>
          </a:solidFill>
          <a:ln w="12700">
            <a:solidFill>
              <a:srgbClr val="38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7086600" y="146304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38bfa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7086600" y="20757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Concepts Pages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2"/>
          <p:cNvSpPr/>
          <p:nvPr/>
        </p:nvSpPr>
        <p:spPr>
          <a:xfrm>
            <a:off x="5029200" y="2834640"/>
            <a:ext cx="1919880" cy="132552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3"/>
          <p:cNvSpPr/>
          <p:nvPr/>
        </p:nvSpPr>
        <p:spPr>
          <a:xfrm>
            <a:off x="5029200" y="2834640"/>
            <a:ext cx="1919880" cy="5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5029200" y="297180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3,000+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5029200" y="358452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Lines of Code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6"/>
          <p:cNvSpPr/>
          <p:nvPr/>
        </p:nvSpPr>
        <p:spPr>
          <a:xfrm>
            <a:off x="7086600" y="2834640"/>
            <a:ext cx="1919880" cy="132552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7"/>
          <p:cNvSpPr/>
          <p:nvPr/>
        </p:nvSpPr>
        <p:spPr>
          <a:xfrm>
            <a:off x="7086600" y="2834640"/>
            <a:ext cx="191988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8"/>
          <p:cNvSpPr/>
          <p:nvPr/>
        </p:nvSpPr>
        <p:spPr>
          <a:xfrm>
            <a:off x="7086600" y="297180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HTML/CSS/JS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9"/>
          <p:cNvSpPr/>
          <p:nvPr/>
        </p:nvSpPr>
        <p:spPr>
          <a:xfrm>
            <a:off x="7086600" y="358452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Built With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38bfa0"/>
          </a:solidFill>
          <a:ln w="12700">
            <a:solidFill>
              <a:srgbClr val="38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2286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38bfa0"/>
                </a:solidFill>
                <a:effectLst/>
                <a:uFillTx/>
                <a:latin typeface="Calibri"/>
                <a:ea typeface="Calibri"/>
              </a:rPr>
              <a:t>ARCHITECTURE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5486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Site Structure &amp; File Organisation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457200" y="1325880"/>
            <a:ext cx="3200040" cy="338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457200" y="1325880"/>
            <a:ext cx="3200040" cy="3470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502920" y="132588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f8ef7"/>
                </a:solidFill>
                <a:effectLst/>
                <a:uFillTx/>
                <a:latin typeface="Calibri"/>
                <a:ea typeface="Calibri"/>
              </a:rPr>
              <a:t>📁  DEVDOCSITE/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594360" y="173736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38bfa0"/>
                </a:solidFill>
                <a:effectLst/>
                <a:uFillTx/>
                <a:latin typeface="Calibri"/>
                <a:ea typeface="Calibri"/>
              </a:rPr>
              <a:t>📁  CSS/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594360" y="192492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      style.css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594360" y="211212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38bfa0"/>
                </a:solidFill>
                <a:effectLst/>
                <a:uFillTx/>
                <a:latin typeface="Calibri"/>
                <a:ea typeface="Calibri"/>
              </a:rPr>
              <a:t>📁  HTML/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594360" y="22996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      changelog.html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594360" y="248724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      community.html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594360" y="26748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      concepts-asobi.html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594360" y="28620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      concepts-news.html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594360" y="304956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      learning-resources.html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4"/>
          <p:cNvSpPr/>
          <p:nvPr/>
        </p:nvSpPr>
        <p:spPr>
          <a:xfrm>
            <a:off x="594360" y="323712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      things-you-need-to…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594360" y="342432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      what-we-recommend.html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6"/>
          <p:cNvSpPr/>
          <p:nvPr/>
        </p:nvSpPr>
        <p:spPr>
          <a:xfrm>
            <a:off x="594360" y="36118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      your-first-project.html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7"/>
          <p:cNvSpPr/>
          <p:nvPr/>
        </p:nvSpPr>
        <p:spPr>
          <a:xfrm>
            <a:off x="594360" y="379944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38bfa0"/>
                </a:solidFill>
                <a:effectLst/>
                <a:uFillTx/>
                <a:latin typeface="Calibri"/>
                <a:ea typeface="Calibri"/>
              </a:rPr>
              <a:t>📁  IMAGES/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8"/>
          <p:cNvSpPr/>
          <p:nvPr/>
        </p:nvSpPr>
        <p:spPr>
          <a:xfrm>
            <a:off x="594360" y="398664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      asobi-preview.png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9"/>
          <p:cNvSpPr/>
          <p:nvPr/>
        </p:nvSpPr>
        <p:spPr>
          <a:xfrm>
            <a:off x="594360" y="41742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38bfa0"/>
                </a:solidFill>
                <a:effectLst/>
                <a:uFillTx/>
                <a:latin typeface="Calibri"/>
                <a:ea typeface="Calibri"/>
              </a:rPr>
              <a:t>📁  JS/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0"/>
          <p:cNvSpPr/>
          <p:nvPr/>
        </p:nvSpPr>
        <p:spPr>
          <a:xfrm>
            <a:off x="594360" y="436176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      concepts.js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1"/>
          <p:cNvSpPr/>
          <p:nvPr/>
        </p:nvSpPr>
        <p:spPr>
          <a:xfrm>
            <a:off x="594360" y="454932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38bfa0"/>
                </a:solidFill>
                <a:effectLst/>
                <a:uFillTx/>
                <a:latin typeface="Calibri"/>
                <a:ea typeface="Calibri"/>
              </a:rPr>
              <a:t>📁  images/  (team photos)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2"/>
          <p:cNvSpPr/>
          <p:nvPr/>
        </p:nvSpPr>
        <p:spPr>
          <a:xfrm>
            <a:off x="594360" y="473652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4f8ef7"/>
                </a:solidFill>
                <a:effectLst/>
                <a:uFillTx/>
                <a:latin typeface="Calibri"/>
                <a:ea typeface="Calibri"/>
              </a:rPr>
              <a:t>📄  index.html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3"/>
          <p:cNvSpPr/>
          <p:nvPr/>
        </p:nvSpPr>
        <p:spPr>
          <a:xfrm>
            <a:off x="594360" y="492408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📄  README.md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4"/>
          <p:cNvSpPr/>
          <p:nvPr/>
        </p:nvSpPr>
        <p:spPr>
          <a:xfrm>
            <a:off x="3749040" y="1325880"/>
            <a:ext cx="4937400" cy="3884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5"/>
          <p:cNvSpPr/>
          <p:nvPr/>
        </p:nvSpPr>
        <p:spPr>
          <a:xfrm>
            <a:off x="3749040" y="1325880"/>
            <a:ext cx="54360" cy="3884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6"/>
          <p:cNvSpPr/>
          <p:nvPr/>
        </p:nvSpPr>
        <p:spPr>
          <a:xfrm>
            <a:off x="3858840" y="1353240"/>
            <a:ext cx="4708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Getting Started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7"/>
          <p:cNvSpPr/>
          <p:nvPr/>
        </p:nvSpPr>
        <p:spPr>
          <a:xfrm>
            <a:off x="3858840" y="1563480"/>
            <a:ext cx="4708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Root index.html — hero, about, site overview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8"/>
          <p:cNvSpPr/>
          <p:nvPr/>
        </p:nvSpPr>
        <p:spPr>
          <a:xfrm>
            <a:off x="3749040" y="1751040"/>
            <a:ext cx="4937400" cy="3884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9"/>
          <p:cNvSpPr/>
          <p:nvPr/>
        </p:nvSpPr>
        <p:spPr>
          <a:xfrm>
            <a:off x="3749040" y="1751040"/>
            <a:ext cx="54360" cy="388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0"/>
          <p:cNvSpPr/>
          <p:nvPr/>
        </p:nvSpPr>
        <p:spPr>
          <a:xfrm>
            <a:off x="3858840" y="1778400"/>
            <a:ext cx="4708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Things You Need To Know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1"/>
          <p:cNvSpPr/>
          <p:nvPr/>
        </p:nvSpPr>
        <p:spPr>
          <a:xfrm>
            <a:off x="3858840" y="1989000"/>
            <a:ext cx="4708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Myth vs reality, market truths, honest action plan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2"/>
          <p:cNvSpPr/>
          <p:nvPr/>
        </p:nvSpPr>
        <p:spPr>
          <a:xfrm>
            <a:off x="3749040" y="2176200"/>
            <a:ext cx="4937400" cy="3884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3"/>
          <p:cNvSpPr/>
          <p:nvPr/>
        </p:nvSpPr>
        <p:spPr>
          <a:xfrm>
            <a:off x="3749040" y="2176200"/>
            <a:ext cx="54360" cy="388440"/>
          </a:xfrm>
          <a:prstGeom prst="rect">
            <a:avLst/>
          </a:prstGeom>
          <a:solidFill>
            <a:srgbClr val="38bfa0"/>
          </a:solidFill>
          <a:ln w="12700">
            <a:solidFill>
              <a:srgbClr val="38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4"/>
          <p:cNvSpPr/>
          <p:nvPr/>
        </p:nvSpPr>
        <p:spPr>
          <a:xfrm>
            <a:off x="3858840" y="2203560"/>
            <a:ext cx="4708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We Recommend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5"/>
          <p:cNvSpPr/>
          <p:nvPr/>
        </p:nvSpPr>
        <p:spPr>
          <a:xfrm>
            <a:off x="3858840" y="2414160"/>
            <a:ext cx="4708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Learning methods, tools, habits, platforms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6"/>
          <p:cNvSpPr/>
          <p:nvPr/>
        </p:nvSpPr>
        <p:spPr>
          <a:xfrm>
            <a:off x="3749040" y="2601360"/>
            <a:ext cx="4937400" cy="3884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37"/>
          <p:cNvSpPr/>
          <p:nvPr/>
        </p:nvSpPr>
        <p:spPr>
          <a:xfrm>
            <a:off x="3749040" y="2601360"/>
            <a:ext cx="54360" cy="388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8"/>
          <p:cNvSpPr/>
          <p:nvPr/>
        </p:nvSpPr>
        <p:spPr>
          <a:xfrm>
            <a:off x="3858840" y="2629080"/>
            <a:ext cx="4708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Your First Project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9"/>
          <p:cNvSpPr/>
          <p:nvPr/>
        </p:nvSpPr>
        <p:spPr>
          <a:xfrm>
            <a:off x="3858840" y="2839320"/>
            <a:ext cx="4708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3 guided projects: Portfolio, To-Do List, Quiz App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40"/>
          <p:cNvSpPr/>
          <p:nvPr/>
        </p:nvSpPr>
        <p:spPr>
          <a:xfrm>
            <a:off x="3749040" y="3026520"/>
            <a:ext cx="4937400" cy="3884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41"/>
          <p:cNvSpPr/>
          <p:nvPr/>
        </p:nvSpPr>
        <p:spPr>
          <a:xfrm>
            <a:off x="3749040" y="3026520"/>
            <a:ext cx="54360" cy="388440"/>
          </a:xfrm>
          <a:prstGeom prst="rect">
            <a:avLst/>
          </a:prstGeom>
          <a:solidFill>
            <a:srgbClr val="38bfa0"/>
          </a:solidFill>
          <a:ln w="12700">
            <a:solidFill>
              <a:srgbClr val="38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42"/>
          <p:cNvSpPr/>
          <p:nvPr/>
        </p:nvSpPr>
        <p:spPr>
          <a:xfrm>
            <a:off x="3858840" y="3054240"/>
            <a:ext cx="4708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Learning Resources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3"/>
          <p:cNvSpPr/>
          <p:nvPr/>
        </p:nvSpPr>
        <p:spPr>
          <a:xfrm>
            <a:off x="3858840" y="3264480"/>
            <a:ext cx="4708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Curated links, platforms, and tools for beginners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44"/>
          <p:cNvSpPr/>
          <p:nvPr/>
        </p:nvSpPr>
        <p:spPr>
          <a:xfrm>
            <a:off x="3749040" y="3452040"/>
            <a:ext cx="4937400" cy="3884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45"/>
          <p:cNvSpPr/>
          <p:nvPr/>
        </p:nvSpPr>
        <p:spPr>
          <a:xfrm>
            <a:off x="3749040" y="3452040"/>
            <a:ext cx="54360" cy="388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6"/>
          <p:cNvSpPr/>
          <p:nvPr/>
        </p:nvSpPr>
        <p:spPr>
          <a:xfrm>
            <a:off x="3858840" y="3479400"/>
            <a:ext cx="4708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Concepts — ASOBI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7"/>
          <p:cNvSpPr/>
          <p:nvPr/>
        </p:nvSpPr>
        <p:spPr>
          <a:xfrm>
            <a:off x="3858840" y="3689640"/>
            <a:ext cx="4708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Code breakdowns from a real game portal (concepts-asobi)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48"/>
          <p:cNvSpPr/>
          <p:nvPr/>
        </p:nvSpPr>
        <p:spPr>
          <a:xfrm>
            <a:off x="3749040" y="3877200"/>
            <a:ext cx="4937400" cy="3884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49"/>
          <p:cNvSpPr/>
          <p:nvPr/>
        </p:nvSpPr>
        <p:spPr>
          <a:xfrm>
            <a:off x="3749040" y="3877200"/>
            <a:ext cx="54360" cy="388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0"/>
          <p:cNvSpPr/>
          <p:nvPr/>
        </p:nvSpPr>
        <p:spPr>
          <a:xfrm>
            <a:off x="3858840" y="3904560"/>
            <a:ext cx="4708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Concepts — NGN News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51"/>
          <p:cNvSpPr/>
          <p:nvPr/>
        </p:nvSpPr>
        <p:spPr>
          <a:xfrm>
            <a:off x="3858840" y="4114800"/>
            <a:ext cx="4708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Quiz explanations from a real news portal (concepts-news)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52"/>
          <p:cNvSpPr/>
          <p:nvPr/>
        </p:nvSpPr>
        <p:spPr>
          <a:xfrm>
            <a:off x="3749040" y="4302360"/>
            <a:ext cx="4937400" cy="3884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53"/>
          <p:cNvSpPr/>
          <p:nvPr/>
        </p:nvSpPr>
        <p:spPr>
          <a:xfrm>
            <a:off x="3749040" y="4302360"/>
            <a:ext cx="54360" cy="388440"/>
          </a:xfrm>
          <a:prstGeom prst="rect">
            <a:avLst/>
          </a:prstGeom>
          <a:solidFill>
            <a:srgbClr val="8a9bb8"/>
          </a:solidFill>
          <a:ln w="12700">
            <a:solidFill>
              <a:srgbClr val="8a9b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4"/>
          <p:cNvSpPr/>
          <p:nvPr/>
        </p:nvSpPr>
        <p:spPr>
          <a:xfrm>
            <a:off x="3858840" y="4329720"/>
            <a:ext cx="4708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Changelog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5"/>
          <p:cNvSpPr/>
          <p:nvPr/>
        </p:nvSpPr>
        <p:spPr>
          <a:xfrm>
            <a:off x="3858840" y="4539960"/>
            <a:ext cx="4708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What changed and when — version history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56"/>
          <p:cNvSpPr/>
          <p:nvPr/>
        </p:nvSpPr>
        <p:spPr>
          <a:xfrm>
            <a:off x="3749040" y="4727520"/>
            <a:ext cx="4937400" cy="3884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57"/>
          <p:cNvSpPr/>
          <p:nvPr/>
        </p:nvSpPr>
        <p:spPr>
          <a:xfrm>
            <a:off x="3749040" y="4727520"/>
            <a:ext cx="54360" cy="388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8"/>
          <p:cNvSpPr/>
          <p:nvPr/>
        </p:nvSpPr>
        <p:spPr>
          <a:xfrm>
            <a:off x="3858840" y="4754880"/>
            <a:ext cx="4708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Community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59"/>
          <p:cNvSpPr/>
          <p:nvPr/>
        </p:nvSpPr>
        <p:spPr>
          <a:xfrm>
            <a:off x="3858840" y="4965120"/>
            <a:ext cx="4708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Meet the team behind DevDocs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457200" y="2286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LAYER 1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457200" y="5486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HTML — Structure &amp; Content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"/>
          <p:cNvSpPr/>
          <p:nvPr/>
        </p:nvSpPr>
        <p:spPr>
          <a:xfrm>
            <a:off x="457200" y="1325880"/>
            <a:ext cx="3200040" cy="338292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457200" y="1600200"/>
            <a:ext cx="3200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HTML</a:t>
            </a:r>
            <a:endParaRPr b="0" lang="en-US" sz="7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457200" y="26974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HyperText Markup Language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594360" y="3090600"/>
            <a:ext cx="292572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3-column shell layout (left sidebar + main + right TOC)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Semantic tags: &lt;header&gt;, &lt;main&gt;, &lt;aside&gt;, &lt;nav&gt;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Breadcrumb navigation on every page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Custom @font-face with local .ttf files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Each letter wrapped in &lt;span&gt; for animations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data-theme attribute for dark/light mode toggle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7"/>
          <p:cNvSpPr/>
          <p:nvPr/>
        </p:nvSpPr>
        <p:spPr>
          <a:xfrm>
            <a:off x="3977640" y="1325880"/>
            <a:ext cx="4708800" cy="105120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8"/>
          <p:cNvSpPr/>
          <p:nvPr/>
        </p:nvSpPr>
        <p:spPr>
          <a:xfrm>
            <a:off x="3977640" y="1325880"/>
            <a:ext cx="54360" cy="1051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4114800" y="1417320"/>
            <a:ext cx="443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Page Shell Pattern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0"/>
          <p:cNvSpPr/>
          <p:nvPr/>
        </p:nvSpPr>
        <p:spPr>
          <a:xfrm>
            <a:off x="4114800" y="1710000"/>
            <a:ext cx="4434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Every page shares the same 3-column grid — left nav, main content, right TOC sidebar — built with semantic HTML and CSS Grid.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1"/>
          <p:cNvSpPr/>
          <p:nvPr/>
        </p:nvSpPr>
        <p:spPr>
          <a:xfrm>
            <a:off x="3977640" y="2487240"/>
            <a:ext cx="4708800" cy="105120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2"/>
          <p:cNvSpPr/>
          <p:nvPr/>
        </p:nvSpPr>
        <p:spPr>
          <a:xfrm>
            <a:off x="3977640" y="2487240"/>
            <a:ext cx="54360" cy="1051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4114800" y="2578680"/>
            <a:ext cx="443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data-theme Attribute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4"/>
          <p:cNvSpPr/>
          <p:nvPr/>
        </p:nvSpPr>
        <p:spPr>
          <a:xfrm>
            <a:off x="4114800" y="2871360"/>
            <a:ext cx="4434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A single attribute on &lt;html data-theme='dark'&gt; switches the entire site between light and dark mode by toggling CSS variables.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5"/>
          <p:cNvSpPr/>
          <p:nvPr/>
        </p:nvSpPr>
        <p:spPr>
          <a:xfrm>
            <a:off x="3977640" y="3648600"/>
            <a:ext cx="4708800" cy="105120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6"/>
          <p:cNvSpPr/>
          <p:nvPr/>
        </p:nvSpPr>
        <p:spPr>
          <a:xfrm>
            <a:off x="3977640" y="3648600"/>
            <a:ext cx="54360" cy="1051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7"/>
          <p:cNvSpPr/>
          <p:nvPr/>
        </p:nvSpPr>
        <p:spPr>
          <a:xfrm>
            <a:off x="4114800" y="3740040"/>
            <a:ext cx="443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Consistent Navigation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8"/>
          <p:cNvSpPr/>
          <p:nvPr/>
        </p:nvSpPr>
        <p:spPr>
          <a:xfrm>
            <a:off x="4114800" y="4032360"/>
            <a:ext cx="4434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The sidebar nav is hand-coded on every page with active states — the active class is applied to the current page link for user orientation.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457200" y="2286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4f8ef7"/>
                </a:solidFill>
                <a:effectLst/>
                <a:uFillTx/>
                <a:latin typeface="Calibri"/>
                <a:ea typeface="Calibri"/>
              </a:rPr>
              <a:t>LAYER 2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457200" y="5486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CSS — Design, Theme &amp; Responsiveness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457200" y="1371600"/>
            <a:ext cx="2651400" cy="15998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4"/>
          <p:cNvSpPr/>
          <p:nvPr/>
        </p:nvSpPr>
        <p:spPr>
          <a:xfrm>
            <a:off x="457200" y="1371600"/>
            <a:ext cx="2651400" cy="5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567000" y="1481400"/>
            <a:ext cx="2431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CSS Variables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6"/>
          <p:cNvSpPr/>
          <p:nvPr/>
        </p:nvSpPr>
        <p:spPr>
          <a:xfrm>
            <a:off x="567000" y="1810440"/>
            <a:ext cx="2431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:root defines the entire design system. Switching data-theme='dark' overrides every variable at once — one attribute, full site theme change.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7"/>
          <p:cNvSpPr/>
          <p:nvPr/>
        </p:nvSpPr>
        <p:spPr>
          <a:xfrm>
            <a:off x="3291840" y="1371600"/>
            <a:ext cx="2651400" cy="15998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8"/>
          <p:cNvSpPr/>
          <p:nvPr/>
        </p:nvSpPr>
        <p:spPr>
          <a:xfrm>
            <a:off x="3291840" y="1371600"/>
            <a:ext cx="2651400" cy="54360"/>
          </a:xfrm>
          <a:prstGeom prst="rect">
            <a:avLst/>
          </a:prstGeom>
          <a:solidFill>
            <a:srgbClr val="38bfa0"/>
          </a:solidFill>
          <a:ln w="12700">
            <a:solidFill>
              <a:srgbClr val="38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3401640" y="1481400"/>
            <a:ext cx="2431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@font-face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0"/>
          <p:cNvSpPr/>
          <p:nvPr/>
        </p:nvSpPr>
        <p:spPr>
          <a:xfrm>
            <a:off x="3401640" y="1810440"/>
            <a:ext cx="2431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Local .ttf font files loaded with @font-face. No Google Fonts dependency — fonts work offline and load instantly.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1"/>
          <p:cNvSpPr/>
          <p:nvPr/>
        </p:nvSpPr>
        <p:spPr>
          <a:xfrm>
            <a:off x="6126480" y="1371600"/>
            <a:ext cx="2651400" cy="15998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2"/>
          <p:cNvSpPr/>
          <p:nvPr/>
        </p:nvSpPr>
        <p:spPr>
          <a:xfrm>
            <a:off x="6126480" y="1371600"/>
            <a:ext cx="265140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3"/>
          <p:cNvSpPr/>
          <p:nvPr/>
        </p:nvSpPr>
        <p:spPr>
          <a:xfrm>
            <a:off x="6236280" y="1481400"/>
            <a:ext cx="2431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position: sticky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4"/>
          <p:cNvSpPr/>
          <p:nvPr/>
        </p:nvSpPr>
        <p:spPr>
          <a:xfrm>
            <a:off x="6236280" y="1810440"/>
            <a:ext cx="2431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Left and right sidebars use sticky + calc(100vh - 62px) to always fill the visible height while the main content scrolls freely.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5"/>
          <p:cNvSpPr/>
          <p:nvPr/>
        </p:nvSpPr>
        <p:spPr>
          <a:xfrm>
            <a:off x="457200" y="3108960"/>
            <a:ext cx="2651400" cy="15998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6"/>
          <p:cNvSpPr/>
          <p:nvPr/>
        </p:nvSpPr>
        <p:spPr>
          <a:xfrm>
            <a:off x="457200" y="3108960"/>
            <a:ext cx="2651400" cy="543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7"/>
          <p:cNvSpPr/>
          <p:nvPr/>
        </p:nvSpPr>
        <p:spPr>
          <a:xfrm>
            <a:off x="567000" y="3218760"/>
            <a:ext cx="2431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@media Queries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8"/>
          <p:cNvSpPr/>
          <p:nvPr/>
        </p:nvSpPr>
        <p:spPr>
          <a:xfrm>
            <a:off x="567000" y="3547800"/>
            <a:ext cx="2431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Three breakpoints: 1024px hides the right sidebar, 768px collapses the left nav behind a hamburger, 480px tightens mobile spacing.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9"/>
          <p:cNvSpPr/>
          <p:nvPr/>
        </p:nvSpPr>
        <p:spPr>
          <a:xfrm>
            <a:off x="3291840" y="3108960"/>
            <a:ext cx="2651400" cy="15998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0"/>
          <p:cNvSpPr/>
          <p:nvPr/>
        </p:nvSpPr>
        <p:spPr>
          <a:xfrm>
            <a:off x="3291840" y="3108960"/>
            <a:ext cx="2651400" cy="5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1"/>
          <p:cNvSpPr/>
          <p:nvPr/>
        </p:nvSpPr>
        <p:spPr>
          <a:xfrm>
            <a:off x="3401640" y="3218760"/>
            <a:ext cx="2431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CSS Transitions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2"/>
          <p:cNvSpPr/>
          <p:nvPr/>
        </p:nvSpPr>
        <p:spPr>
          <a:xfrm>
            <a:off x="3401640" y="3547800"/>
            <a:ext cx="2431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All interactive elements animate smoothly. Background, border-color, color, and transform all use transition: 0.25s for a polished feel.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3"/>
          <p:cNvSpPr/>
          <p:nvPr/>
        </p:nvSpPr>
        <p:spPr>
          <a:xfrm>
            <a:off x="6126480" y="3108960"/>
            <a:ext cx="2651400" cy="15998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4"/>
          <p:cNvSpPr/>
          <p:nvPr/>
        </p:nvSpPr>
        <p:spPr>
          <a:xfrm>
            <a:off x="6126480" y="3108960"/>
            <a:ext cx="2651400" cy="54360"/>
          </a:xfrm>
          <a:prstGeom prst="rect">
            <a:avLst/>
          </a:prstGeom>
          <a:solidFill>
            <a:srgbClr val="38bfa0"/>
          </a:solidFill>
          <a:ln w="12700">
            <a:solidFill>
              <a:srgbClr val="38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5"/>
          <p:cNvSpPr/>
          <p:nvPr/>
        </p:nvSpPr>
        <p:spPr>
          <a:xfrm>
            <a:off x="6236280" y="3218760"/>
            <a:ext cx="2431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Flexbox &amp; Grid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6"/>
          <p:cNvSpPr/>
          <p:nvPr/>
        </p:nvSpPr>
        <p:spPr>
          <a:xfrm>
            <a:off x="6236280" y="3547800"/>
            <a:ext cx="2431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The 3-column shell is a CSS Grid. Headers, nav items, breadcrumbs, tag rows, and card layouts all use Flexbox for clean alignment.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38bfa0"/>
          </a:solidFill>
          <a:ln w="12700">
            <a:solidFill>
              <a:srgbClr val="38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57200" y="2286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38bfa0"/>
                </a:solidFill>
                <a:effectLst/>
                <a:uFillTx/>
                <a:latin typeface="Calibri"/>
                <a:ea typeface="Calibri"/>
              </a:rPr>
              <a:t>LAYER 3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>
            <a:off x="457200" y="5486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JavaScript — Interactivity &amp; Logic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3"/>
          <p:cNvSpPr/>
          <p:nvPr/>
        </p:nvSpPr>
        <p:spPr>
          <a:xfrm>
            <a:off x="457200" y="1490400"/>
            <a:ext cx="438480" cy="43848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457200" y="149040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🌙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5"/>
          <p:cNvSpPr/>
          <p:nvPr/>
        </p:nvSpPr>
        <p:spPr>
          <a:xfrm>
            <a:off x="676440" y="1938240"/>
            <a:ext cx="360" cy="475560"/>
          </a:xfrm>
          <a:prstGeom prst="line">
            <a:avLst/>
          </a:prstGeom>
          <a:ln w="1905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6"/>
          <p:cNvSpPr/>
          <p:nvPr/>
        </p:nvSpPr>
        <p:spPr>
          <a:xfrm>
            <a:off x="1097280" y="1325880"/>
            <a:ext cx="7589160" cy="8042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7"/>
          <p:cNvSpPr/>
          <p:nvPr/>
        </p:nvSpPr>
        <p:spPr>
          <a:xfrm>
            <a:off x="1097280" y="1325880"/>
            <a:ext cx="54360" cy="804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1234440" y="138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Dark / Light Mode Toggle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9"/>
          <p:cNvSpPr/>
          <p:nvPr/>
        </p:nvSpPr>
        <p:spPr>
          <a:xfrm>
            <a:off x="1234440" y="1664280"/>
            <a:ext cx="7314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localStorage persists the user's theme preference. documentElement.setAttribute('data-theme') switches the full site instantly.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0"/>
          <p:cNvSpPr/>
          <p:nvPr/>
        </p:nvSpPr>
        <p:spPr>
          <a:xfrm>
            <a:off x="457200" y="2404800"/>
            <a:ext cx="438480" cy="438480"/>
          </a:xfrm>
          <a:prstGeom prst="ellipse">
            <a:avLst/>
          </a:prstGeom>
          <a:solidFill>
            <a:srgbClr val="38bfa0"/>
          </a:solidFill>
          <a:ln w="12700">
            <a:solidFill>
              <a:srgbClr val="38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1"/>
          <p:cNvSpPr/>
          <p:nvPr/>
        </p:nvSpPr>
        <p:spPr>
          <a:xfrm>
            <a:off x="457200" y="240480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☰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2"/>
          <p:cNvSpPr/>
          <p:nvPr/>
        </p:nvSpPr>
        <p:spPr>
          <a:xfrm>
            <a:off x="676440" y="2852640"/>
            <a:ext cx="360" cy="475560"/>
          </a:xfrm>
          <a:prstGeom prst="line">
            <a:avLst/>
          </a:prstGeom>
          <a:ln w="1905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3"/>
          <p:cNvSpPr/>
          <p:nvPr/>
        </p:nvSpPr>
        <p:spPr>
          <a:xfrm>
            <a:off x="1097280" y="2240280"/>
            <a:ext cx="7589160" cy="8042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4"/>
          <p:cNvSpPr/>
          <p:nvPr/>
        </p:nvSpPr>
        <p:spPr>
          <a:xfrm>
            <a:off x="1097280" y="2240280"/>
            <a:ext cx="54360" cy="804240"/>
          </a:xfrm>
          <a:prstGeom prst="rect">
            <a:avLst/>
          </a:prstGeom>
          <a:solidFill>
            <a:srgbClr val="38bfa0"/>
          </a:solidFill>
          <a:ln w="12700">
            <a:solidFill>
              <a:srgbClr val="38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5"/>
          <p:cNvSpPr/>
          <p:nvPr/>
        </p:nvSpPr>
        <p:spPr>
          <a:xfrm>
            <a:off x="1234440" y="22950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Hamburger Menu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6"/>
          <p:cNvSpPr/>
          <p:nvPr/>
        </p:nvSpPr>
        <p:spPr>
          <a:xfrm>
            <a:off x="1234440" y="2578680"/>
            <a:ext cx="7314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classList.toggle, stopPropagation, and a document click listener work together to open, close, and dismiss the mobile sidebar cleanly.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7"/>
          <p:cNvSpPr/>
          <p:nvPr/>
        </p:nvSpPr>
        <p:spPr>
          <a:xfrm>
            <a:off x="457200" y="3319200"/>
            <a:ext cx="438480" cy="438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8"/>
          <p:cNvSpPr/>
          <p:nvPr/>
        </p:nvSpPr>
        <p:spPr>
          <a:xfrm>
            <a:off x="457200" y="331920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📍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9"/>
          <p:cNvSpPr/>
          <p:nvPr/>
        </p:nvSpPr>
        <p:spPr>
          <a:xfrm>
            <a:off x="676440" y="3767040"/>
            <a:ext cx="360" cy="475560"/>
          </a:xfrm>
          <a:prstGeom prst="line">
            <a:avLst/>
          </a:prstGeom>
          <a:ln w="1905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0"/>
          <p:cNvSpPr/>
          <p:nvPr/>
        </p:nvSpPr>
        <p:spPr>
          <a:xfrm>
            <a:off x="1097280" y="3154680"/>
            <a:ext cx="7589160" cy="8042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1"/>
          <p:cNvSpPr/>
          <p:nvPr/>
        </p:nvSpPr>
        <p:spPr>
          <a:xfrm>
            <a:off x="1097280" y="3154680"/>
            <a:ext cx="54360" cy="804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2"/>
          <p:cNvSpPr/>
          <p:nvPr/>
        </p:nvSpPr>
        <p:spPr>
          <a:xfrm>
            <a:off x="1234440" y="3209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Active TOC on Scroll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3"/>
          <p:cNvSpPr/>
          <p:nvPr/>
        </p:nvSpPr>
        <p:spPr>
          <a:xfrm>
            <a:off x="1234440" y="3493080"/>
            <a:ext cx="7314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getBoundingClientRect() checks every section's position on each scroll event and updates the right-sidebar TOC active link in real time.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4"/>
          <p:cNvSpPr/>
          <p:nvPr/>
        </p:nvSpPr>
        <p:spPr>
          <a:xfrm>
            <a:off x="457200" y="4233600"/>
            <a:ext cx="438480" cy="438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5"/>
          <p:cNvSpPr/>
          <p:nvPr/>
        </p:nvSpPr>
        <p:spPr>
          <a:xfrm>
            <a:off x="457200" y="423360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🧠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6"/>
          <p:cNvSpPr/>
          <p:nvPr/>
        </p:nvSpPr>
        <p:spPr>
          <a:xfrm>
            <a:off x="1097280" y="4069080"/>
            <a:ext cx="7589160" cy="8042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7"/>
          <p:cNvSpPr/>
          <p:nvPr/>
        </p:nvSpPr>
        <p:spPr>
          <a:xfrm>
            <a:off x="1097280" y="4069080"/>
            <a:ext cx="54360" cy="804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8"/>
          <p:cNvSpPr/>
          <p:nvPr/>
        </p:nvSpPr>
        <p:spPr>
          <a:xfrm>
            <a:off x="1234440" y="4123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Quiz Engine (NGN Concepts Page)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9"/>
          <p:cNvSpPr/>
          <p:nvPr/>
        </p:nvSpPr>
        <p:spPr>
          <a:xfrm>
            <a:off x="1234440" y="4407480"/>
            <a:ext cx="7314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querySelectorAll('.quiz-option') + event delegation handles answers, disables options, applies correct/wrong classes, and shows feedback.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457200" y="2286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DESIGN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457200" y="5486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Design System &amp; Visual Language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"/>
          <p:cNvSpPr/>
          <p:nvPr/>
        </p:nvSpPr>
        <p:spPr>
          <a:xfrm>
            <a:off x="457200" y="201204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01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COLOUR PALETTE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4"/>
          <p:cNvSpPr/>
          <p:nvPr/>
        </p:nvSpPr>
        <p:spPr>
          <a:xfrm>
            <a:off x="457200" y="2313720"/>
            <a:ext cx="1462680" cy="639720"/>
          </a:xfrm>
          <a:prstGeom prst="rect">
            <a:avLst/>
          </a:prstGeom>
          <a:solidFill>
            <a:srgbClr val="f5f4ef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5"/>
          <p:cNvSpPr/>
          <p:nvPr/>
        </p:nvSpPr>
        <p:spPr>
          <a:xfrm>
            <a:off x="457200" y="299052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Warm Off-white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6"/>
          <p:cNvSpPr/>
          <p:nvPr/>
        </p:nvSpPr>
        <p:spPr>
          <a:xfrm>
            <a:off x="457200" y="32281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2a3a5c"/>
                </a:solidFill>
                <a:effectLst/>
                <a:uFillTx/>
                <a:latin typeface="Calibri"/>
                <a:ea typeface="Calibri"/>
              </a:rPr>
              <a:t>#F5F4EF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7"/>
          <p:cNvSpPr/>
          <p:nvPr/>
        </p:nvSpPr>
        <p:spPr>
          <a:xfrm>
            <a:off x="2103120" y="2313720"/>
            <a:ext cx="1462680" cy="639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8"/>
          <p:cNvSpPr/>
          <p:nvPr/>
        </p:nvSpPr>
        <p:spPr>
          <a:xfrm>
            <a:off x="2103120" y="299052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Surface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9"/>
          <p:cNvSpPr/>
          <p:nvPr/>
        </p:nvSpPr>
        <p:spPr>
          <a:xfrm>
            <a:off x="2103120" y="32281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2a3a5c"/>
                </a:solidFill>
                <a:effectLst/>
                <a:uFillTx/>
                <a:latin typeface="Calibri"/>
                <a:ea typeface="Calibri"/>
              </a:rPr>
              <a:t>#FFFFFF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0"/>
          <p:cNvSpPr/>
          <p:nvPr/>
        </p:nvSpPr>
        <p:spPr>
          <a:xfrm>
            <a:off x="3749040" y="2313720"/>
            <a:ext cx="1462680" cy="6397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1"/>
          <p:cNvSpPr/>
          <p:nvPr/>
        </p:nvSpPr>
        <p:spPr>
          <a:xfrm>
            <a:off x="3749040" y="299052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Sidebar Navy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2"/>
          <p:cNvSpPr/>
          <p:nvPr/>
        </p:nvSpPr>
        <p:spPr>
          <a:xfrm>
            <a:off x="3749040" y="32281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2a3a5c"/>
                </a:solidFill>
                <a:effectLst/>
                <a:uFillTx/>
                <a:latin typeface="Calibri"/>
                <a:ea typeface="Calibri"/>
              </a:rPr>
              <a:t>#1A1A2E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3"/>
          <p:cNvSpPr/>
          <p:nvPr/>
        </p:nvSpPr>
        <p:spPr>
          <a:xfrm>
            <a:off x="5394960" y="2313720"/>
            <a:ext cx="1462680" cy="639720"/>
          </a:xfrm>
          <a:prstGeom prst="rect">
            <a:avLst/>
          </a:prstGeom>
          <a:solidFill>
            <a:srgbClr val="4f8ef7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4"/>
          <p:cNvSpPr/>
          <p:nvPr/>
        </p:nvSpPr>
        <p:spPr>
          <a:xfrm>
            <a:off x="5394960" y="299052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Accent Blue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5"/>
          <p:cNvSpPr/>
          <p:nvPr/>
        </p:nvSpPr>
        <p:spPr>
          <a:xfrm>
            <a:off x="5394960" y="32281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2a3a5c"/>
                </a:solidFill>
                <a:effectLst/>
                <a:uFillTx/>
                <a:latin typeface="Calibri"/>
                <a:ea typeface="Calibri"/>
              </a:rPr>
              <a:t>#4F8EF7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6"/>
          <p:cNvSpPr/>
          <p:nvPr/>
        </p:nvSpPr>
        <p:spPr>
          <a:xfrm>
            <a:off x="7040880" y="2313720"/>
            <a:ext cx="1462680" cy="639720"/>
          </a:xfrm>
          <a:prstGeom prst="rect">
            <a:avLst/>
          </a:prstGeom>
          <a:solidFill>
            <a:srgbClr val="0f1629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7"/>
          <p:cNvSpPr/>
          <p:nvPr/>
        </p:nvSpPr>
        <p:spPr>
          <a:xfrm>
            <a:off x="7040880" y="299052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Dark Background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8"/>
          <p:cNvSpPr/>
          <p:nvPr/>
        </p:nvSpPr>
        <p:spPr>
          <a:xfrm>
            <a:off x="7040880" y="32281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2a3a5c"/>
                </a:solidFill>
                <a:effectLst/>
                <a:uFillTx/>
                <a:latin typeface="Calibri"/>
                <a:ea typeface="Calibri"/>
              </a:rPr>
              <a:t>#0F1629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457200" y="2286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f43f5e"/>
                </a:solidFill>
                <a:effectLst/>
                <a:uFillTx/>
                <a:latin typeface="Calibri"/>
                <a:ea typeface="Calibri"/>
              </a:rPr>
              <a:t>KEY FEATURE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"/>
          <p:cNvSpPr/>
          <p:nvPr/>
        </p:nvSpPr>
        <p:spPr>
          <a:xfrm>
            <a:off x="457200" y="5486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Concepts Pages</a:t>
            </a:r>
            <a:endParaRPr b="0" lang="en-US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457200" y="12344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Two pages that teach beginners by breaking down real open-source projects written by peers — with actual code snippets and an interactive quiz.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4"/>
          <p:cNvSpPr/>
          <p:nvPr/>
        </p:nvSpPr>
        <p:spPr>
          <a:xfrm>
            <a:off x="457200" y="1783080"/>
            <a:ext cx="4160160" cy="306288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5"/>
          <p:cNvSpPr/>
          <p:nvPr/>
        </p:nvSpPr>
        <p:spPr>
          <a:xfrm>
            <a:off x="457200" y="1783080"/>
            <a:ext cx="4160160" cy="5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6"/>
          <p:cNvSpPr/>
          <p:nvPr/>
        </p:nvSpPr>
        <p:spPr>
          <a:xfrm>
            <a:off x="594360" y="1865520"/>
            <a:ext cx="3885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ASOBI Game Portal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7"/>
          <p:cNvSpPr/>
          <p:nvPr/>
        </p:nvSpPr>
        <p:spPr>
          <a:xfrm>
            <a:off x="594360" y="2176200"/>
            <a:ext cx="3885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by RujalRazz — GitHub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8"/>
          <p:cNvSpPr/>
          <p:nvPr/>
        </p:nvSpPr>
        <p:spPr>
          <a:xfrm>
            <a:off x="567000" y="2468880"/>
            <a:ext cx="3931560" cy="22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@font-face — loading local .ttf font files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@keyframes + nth-child staggered bounce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radial-gradient glow background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clamp() for fluid responsive font size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position: sticky + z-index for navbar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transform: rotate() hamburger → X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classList.toggle + stopPropagation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9"/>
          <p:cNvSpPr/>
          <p:nvPr/>
        </p:nvSpPr>
        <p:spPr>
          <a:xfrm>
            <a:off x="4892040" y="1783080"/>
            <a:ext cx="4160160" cy="306288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0"/>
          <p:cNvSpPr/>
          <p:nvPr/>
        </p:nvSpPr>
        <p:spPr>
          <a:xfrm>
            <a:off x="4892040" y="1783080"/>
            <a:ext cx="4160160" cy="54360"/>
          </a:xfrm>
          <a:prstGeom prst="rect">
            <a:avLst/>
          </a:prstGeom>
          <a:solidFill>
            <a:srgbClr val="38bfa0"/>
          </a:solidFill>
          <a:ln w="12700">
            <a:solidFill>
              <a:srgbClr val="38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1"/>
          <p:cNvSpPr/>
          <p:nvPr/>
        </p:nvSpPr>
        <p:spPr>
          <a:xfrm>
            <a:off x="5029200" y="1865520"/>
            <a:ext cx="3885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NGN News Portal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2"/>
          <p:cNvSpPr/>
          <p:nvPr/>
        </p:nvSpPr>
        <p:spPr>
          <a:xfrm>
            <a:off x="5029200" y="2176200"/>
            <a:ext cx="3885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38bfa0"/>
                </a:solidFill>
                <a:effectLst/>
                <a:uFillTx/>
                <a:latin typeface="Calibri"/>
                <a:ea typeface="Calibri"/>
              </a:rPr>
              <a:t>Nepal Global News — beginner project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3"/>
          <p:cNvSpPr/>
          <p:nvPr/>
        </p:nvSpPr>
        <p:spPr>
          <a:xfrm>
            <a:off x="5001840" y="2468880"/>
            <a:ext cx="3931560" cy="22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window.scrollY parallax multiplier math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Sticky header — scroll threshold + classList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Image slideshow — showSlides() state logic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scrollLeft + setInterval auto-advance slider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right: -100% slide-in nav vs display:none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Interactive quiz with correct/wrong feedback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eff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External JS + internal CSS architecture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457200" y="2286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PROCESS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"/>
          <p:cNvSpPr/>
          <p:nvPr/>
        </p:nvSpPr>
        <p:spPr>
          <a:xfrm>
            <a:off x="457200" y="5486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Challenges &amp; How We Solved Them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"/>
          <p:cNvSpPr/>
          <p:nvPr/>
        </p:nvSpPr>
        <p:spPr>
          <a:xfrm>
            <a:off x="457200" y="1325880"/>
            <a:ext cx="3840120" cy="7768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4"/>
          <p:cNvSpPr/>
          <p:nvPr/>
        </p:nvSpPr>
        <p:spPr>
          <a:xfrm>
            <a:off x="457200" y="1325880"/>
            <a:ext cx="54360" cy="776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567000" y="13626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9" strike="noStrike" u="none">
                <a:solidFill>
                  <a:srgbClr val="f43f5e"/>
                </a:solidFill>
                <a:effectLst/>
                <a:uFillTx/>
                <a:latin typeface="Calibri"/>
                <a:ea typeface="Calibri"/>
              </a:rPr>
              <a:t>⚠  CHALLENGE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567000" y="157284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CSS variables not switching theme on page load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7"/>
          <p:cNvSpPr/>
          <p:nvPr/>
        </p:nvSpPr>
        <p:spPr>
          <a:xfrm>
            <a:off x="4370760" y="1709640"/>
            <a:ext cx="402120" cy="360"/>
          </a:xfrm>
          <a:prstGeom prst="line">
            <a:avLst/>
          </a:prstGeom>
          <a:ln w="19050">
            <a:solidFill>
              <a:srgbClr val="8a9b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8"/>
          <p:cNvSpPr/>
          <p:nvPr/>
        </p:nvSpPr>
        <p:spPr>
          <a:xfrm>
            <a:off x="4389120" y="15544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8a9bb8"/>
                </a:solidFill>
                <a:effectLst/>
                <a:uFillTx/>
                <a:latin typeface="Calibri"/>
              </a:rPr>
              <a:t>→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9"/>
          <p:cNvSpPr/>
          <p:nvPr/>
        </p:nvSpPr>
        <p:spPr>
          <a:xfrm>
            <a:off x="4846320" y="1325880"/>
            <a:ext cx="3840120" cy="7768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0"/>
          <p:cNvSpPr/>
          <p:nvPr/>
        </p:nvSpPr>
        <p:spPr>
          <a:xfrm>
            <a:off x="4846320" y="1325880"/>
            <a:ext cx="54360" cy="7768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1"/>
          <p:cNvSpPr/>
          <p:nvPr/>
        </p:nvSpPr>
        <p:spPr>
          <a:xfrm>
            <a:off x="4956120" y="13626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9" strike="noStrike" u="none">
                <a:solidFill>
                  <a:srgbClr val="4f8ef7"/>
                </a:solidFill>
                <a:effectLst/>
                <a:uFillTx/>
                <a:latin typeface="Calibri"/>
                <a:ea typeface="Calibri"/>
              </a:rPr>
              <a:t>✓  SOLUTION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2"/>
          <p:cNvSpPr/>
          <p:nvPr/>
        </p:nvSpPr>
        <p:spPr>
          <a:xfrm>
            <a:off x="4956120" y="157284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Added localStorage.getItem check in JavaScript — saved theme is applied before the page renders, preventing flash of wrong theme.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3"/>
          <p:cNvSpPr/>
          <p:nvPr/>
        </p:nvSpPr>
        <p:spPr>
          <a:xfrm>
            <a:off x="457200" y="2240280"/>
            <a:ext cx="3840120" cy="7768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4"/>
          <p:cNvSpPr/>
          <p:nvPr/>
        </p:nvSpPr>
        <p:spPr>
          <a:xfrm>
            <a:off x="457200" y="2240280"/>
            <a:ext cx="54360" cy="776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5"/>
          <p:cNvSpPr/>
          <p:nvPr/>
        </p:nvSpPr>
        <p:spPr>
          <a:xfrm>
            <a:off x="567000" y="22770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9" strike="noStrike" u="none">
                <a:solidFill>
                  <a:srgbClr val="f43f5e"/>
                </a:solidFill>
                <a:effectLst/>
                <a:uFillTx/>
                <a:latin typeface="Calibri"/>
                <a:ea typeface="Calibri"/>
              </a:rPr>
              <a:t>⚠  CHALLENGE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6"/>
          <p:cNvSpPr/>
          <p:nvPr/>
        </p:nvSpPr>
        <p:spPr>
          <a:xfrm>
            <a:off x="567000" y="248724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Hamburger click immediately closed the menu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7"/>
          <p:cNvSpPr/>
          <p:nvPr/>
        </p:nvSpPr>
        <p:spPr>
          <a:xfrm>
            <a:off x="4370760" y="2624040"/>
            <a:ext cx="402120" cy="360"/>
          </a:xfrm>
          <a:prstGeom prst="line">
            <a:avLst/>
          </a:prstGeom>
          <a:ln w="19050">
            <a:solidFill>
              <a:srgbClr val="8a9b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8"/>
          <p:cNvSpPr/>
          <p:nvPr/>
        </p:nvSpPr>
        <p:spPr>
          <a:xfrm>
            <a:off x="4389120" y="24688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8a9bb8"/>
                </a:solidFill>
                <a:effectLst/>
                <a:uFillTx/>
                <a:latin typeface="Calibri"/>
              </a:rPr>
              <a:t>→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9"/>
          <p:cNvSpPr/>
          <p:nvPr/>
        </p:nvSpPr>
        <p:spPr>
          <a:xfrm>
            <a:off x="4846320" y="2240280"/>
            <a:ext cx="3840120" cy="7768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0"/>
          <p:cNvSpPr/>
          <p:nvPr/>
        </p:nvSpPr>
        <p:spPr>
          <a:xfrm>
            <a:off x="4846320" y="2240280"/>
            <a:ext cx="54360" cy="776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1"/>
          <p:cNvSpPr/>
          <p:nvPr/>
        </p:nvSpPr>
        <p:spPr>
          <a:xfrm>
            <a:off x="4956120" y="22770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9" strike="noStrike" u="none">
                <a:solidFill>
                  <a:srgbClr val="f43f5e"/>
                </a:solidFill>
                <a:effectLst/>
                <a:uFillTx/>
                <a:latin typeface="Calibri"/>
                <a:ea typeface="Calibri"/>
              </a:rPr>
              <a:t>✓  SOLUTION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2"/>
          <p:cNvSpPr/>
          <p:nvPr/>
        </p:nvSpPr>
        <p:spPr>
          <a:xfrm>
            <a:off x="4956120" y="248724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e.stopPropagation() on the hamburger click stopped the event from bubbling to the document listener that closes the menu.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3"/>
          <p:cNvSpPr/>
          <p:nvPr/>
        </p:nvSpPr>
        <p:spPr>
          <a:xfrm>
            <a:off x="457200" y="3154680"/>
            <a:ext cx="3840120" cy="7768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4"/>
          <p:cNvSpPr/>
          <p:nvPr/>
        </p:nvSpPr>
        <p:spPr>
          <a:xfrm>
            <a:off x="457200" y="3154680"/>
            <a:ext cx="54360" cy="776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5"/>
          <p:cNvSpPr/>
          <p:nvPr/>
        </p:nvSpPr>
        <p:spPr>
          <a:xfrm>
            <a:off x="567000" y="31914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9" strike="noStrike" u="none">
                <a:solidFill>
                  <a:srgbClr val="f43f5e"/>
                </a:solidFill>
                <a:effectLst/>
                <a:uFillTx/>
                <a:latin typeface="Calibri"/>
                <a:ea typeface="Calibri"/>
              </a:rPr>
              <a:t>⚠  CHALLENGE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6"/>
          <p:cNvSpPr/>
          <p:nvPr/>
        </p:nvSpPr>
        <p:spPr>
          <a:xfrm>
            <a:off x="567000" y="340164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Sticky sidebars overlapping page content on mobile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7"/>
          <p:cNvSpPr/>
          <p:nvPr/>
        </p:nvSpPr>
        <p:spPr>
          <a:xfrm>
            <a:off x="4370760" y="3538440"/>
            <a:ext cx="402120" cy="360"/>
          </a:xfrm>
          <a:prstGeom prst="line">
            <a:avLst/>
          </a:prstGeom>
          <a:ln w="19050">
            <a:solidFill>
              <a:srgbClr val="8a9b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8"/>
          <p:cNvSpPr/>
          <p:nvPr/>
        </p:nvSpPr>
        <p:spPr>
          <a:xfrm>
            <a:off x="4389120" y="33832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8a9bb8"/>
                </a:solidFill>
                <a:effectLst/>
                <a:uFillTx/>
                <a:latin typeface="Calibri"/>
              </a:rPr>
              <a:t>→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9"/>
          <p:cNvSpPr/>
          <p:nvPr/>
        </p:nvSpPr>
        <p:spPr>
          <a:xfrm>
            <a:off x="4846320" y="3154680"/>
            <a:ext cx="3840120" cy="7768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30"/>
          <p:cNvSpPr/>
          <p:nvPr/>
        </p:nvSpPr>
        <p:spPr>
          <a:xfrm>
            <a:off x="4846320" y="3154680"/>
            <a:ext cx="54360" cy="776880"/>
          </a:xfrm>
          <a:prstGeom prst="rect">
            <a:avLst/>
          </a:prstGeom>
          <a:solidFill>
            <a:srgbClr val="38bfa0"/>
          </a:solidFill>
          <a:ln w="12700">
            <a:solidFill>
              <a:srgbClr val="38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1"/>
          <p:cNvSpPr/>
          <p:nvPr/>
        </p:nvSpPr>
        <p:spPr>
          <a:xfrm>
            <a:off x="4956120" y="31914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9" strike="noStrike" u="none">
                <a:solidFill>
                  <a:srgbClr val="38bfa0"/>
                </a:solidFill>
                <a:effectLst/>
                <a:uFillTx/>
                <a:latin typeface="Calibri"/>
                <a:ea typeface="Calibri"/>
              </a:rPr>
              <a:t>✓  SOLUTION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2"/>
          <p:cNvSpPr/>
          <p:nvPr/>
        </p:nvSpPr>
        <p:spPr>
          <a:xfrm>
            <a:off x="4956120" y="340164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Used @media queries to switch position from sticky to static on small screens, and added a slide-out overlay panel instead.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33"/>
          <p:cNvSpPr/>
          <p:nvPr/>
        </p:nvSpPr>
        <p:spPr>
          <a:xfrm>
            <a:off x="457200" y="4069080"/>
            <a:ext cx="3840120" cy="7768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34"/>
          <p:cNvSpPr/>
          <p:nvPr/>
        </p:nvSpPr>
        <p:spPr>
          <a:xfrm>
            <a:off x="457200" y="4069080"/>
            <a:ext cx="54360" cy="776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5"/>
          <p:cNvSpPr/>
          <p:nvPr/>
        </p:nvSpPr>
        <p:spPr>
          <a:xfrm>
            <a:off x="567000" y="41058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9" strike="noStrike" u="none">
                <a:solidFill>
                  <a:srgbClr val="f43f5e"/>
                </a:solidFill>
                <a:effectLst/>
                <a:uFillTx/>
                <a:latin typeface="Calibri"/>
                <a:ea typeface="Calibri"/>
              </a:rPr>
              <a:t>⚠  CHALLENGE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6"/>
          <p:cNvSpPr/>
          <p:nvPr/>
        </p:nvSpPr>
        <p:spPr>
          <a:xfrm>
            <a:off x="567000" y="431604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Active TOC link not updating smoothly on scroll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7"/>
          <p:cNvSpPr/>
          <p:nvPr/>
        </p:nvSpPr>
        <p:spPr>
          <a:xfrm>
            <a:off x="4370760" y="4452840"/>
            <a:ext cx="402120" cy="360"/>
          </a:xfrm>
          <a:prstGeom prst="line">
            <a:avLst/>
          </a:prstGeom>
          <a:ln w="19050">
            <a:solidFill>
              <a:srgbClr val="8a9b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8"/>
          <p:cNvSpPr/>
          <p:nvPr/>
        </p:nvSpPr>
        <p:spPr>
          <a:xfrm>
            <a:off x="4389120" y="42976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8a9bb8"/>
                </a:solidFill>
                <a:effectLst/>
                <a:uFillTx/>
                <a:latin typeface="Calibri"/>
              </a:rPr>
              <a:t>→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9"/>
          <p:cNvSpPr/>
          <p:nvPr/>
        </p:nvSpPr>
        <p:spPr>
          <a:xfrm>
            <a:off x="4846320" y="4069080"/>
            <a:ext cx="3840120" cy="7768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40"/>
          <p:cNvSpPr/>
          <p:nvPr/>
        </p:nvSpPr>
        <p:spPr>
          <a:xfrm>
            <a:off x="4846320" y="4069080"/>
            <a:ext cx="54360" cy="776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41"/>
          <p:cNvSpPr/>
          <p:nvPr/>
        </p:nvSpPr>
        <p:spPr>
          <a:xfrm>
            <a:off x="4956120" y="41058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9" strike="noStrike" u="non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✓  SOLUTION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42"/>
          <p:cNvSpPr/>
          <p:nvPr/>
        </p:nvSpPr>
        <p:spPr>
          <a:xfrm>
            <a:off x="4956120" y="431604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e8eeff"/>
                </a:solidFill>
                <a:effectLst/>
                <a:uFillTx/>
                <a:latin typeface="Calibri"/>
                <a:ea typeface="Calibri"/>
              </a:rPr>
              <a:t>Replaced IntersectionObserver (inconsistent with short sections) with getBoundingClientRect() checked on every scroll event with a 120px threshold.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38bfa0"/>
          </a:solidFill>
          <a:ln w="12700">
            <a:solidFill>
              <a:srgbClr val="38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457200" y="2286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38bfa0"/>
                </a:solidFill>
                <a:effectLst/>
                <a:uFillTx/>
                <a:latin typeface="Calibri"/>
                <a:ea typeface="Calibri"/>
              </a:rPr>
              <a:t>REFLECTION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"/>
          <p:cNvSpPr/>
          <p:nvPr/>
        </p:nvSpPr>
        <p:spPr>
          <a:xfrm>
            <a:off x="457200" y="5486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We Learned</a:t>
            </a:r>
            <a:endParaRPr b="0" lang="en-US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"/>
          <p:cNvSpPr/>
          <p:nvPr/>
        </p:nvSpPr>
        <p:spPr>
          <a:xfrm>
            <a:off x="457200" y="1371600"/>
            <a:ext cx="2651400" cy="15998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4"/>
          <p:cNvSpPr/>
          <p:nvPr/>
        </p:nvSpPr>
        <p:spPr>
          <a:xfrm>
            <a:off x="457200" y="1371600"/>
            <a:ext cx="2651400" cy="45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567000" y="1463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🗂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6"/>
          <p:cNvSpPr/>
          <p:nvPr/>
        </p:nvSpPr>
        <p:spPr>
          <a:xfrm>
            <a:off x="960120" y="1463040"/>
            <a:ext cx="2029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4f8ef7"/>
                </a:solidFill>
                <a:effectLst/>
                <a:uFillTx/>
                <a:latin typeface="Calibri"/>
                <a:ea typeface="Calibri"/>
              </a:rPr>
              <a:t>Multi-page architecture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7"/>
          <p:cNvSpPr/>
          <p:nvPr/>
        </p:nvSpPr>
        <p:spPr>
          <a:xfrm>
            <a:off x="567000" y="1901880"/>
            <a:ext cx="2431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Keeping shared CSS in one file and reusing consistent HTML patterns across 7 pages taught us how real websites are actually organised.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8"/>
          <p:cNvSpPr/>
          <p:nvPr/>
        </p:nvSpPr>
        <p:spPr>
          <a:xfrm>
            <a:off x="3291840" y="1371600"/>
            <a:ext cx="2651400" cy="15998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9"/>
          <p:cNvSpPr/>
          <p:nvPr/>
        </p:nvSpPr>
        <p:spPr>
          <a:xfrm>
            <a:off x="3291840" y="1371600"/>
            <a:ext cx="2651400" cy="45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0"/>
          <p:cNvSpPr/>
          <p:nvPr/>
        </p:nvSpPr>
        <p:spPr>
          <a:xfrm>
            <a:off x="3401640" y="1463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🎨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1"/>
          <p:cNvSpPr/>
          <p:nvPr/>
        </p:nvSpPr>
        <p:spPr>
          <a:xfrm>
            <a:off x="3794760" y="1463040"/>
            <a:ext cx="2029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Design systems work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2"/>
          <p:cNvSpPr/>
          <p:nvPr/>
        </p:nvSpPr>
        <p:spPr>
          <a:xfrm>
            <a:off x="3401640" y="1901880"/>
            <a:ext cx="2431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CSS variables made it possible to change the entire site's theme with two lines of JavaScript. A design system is not just for big teams.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3"/>
          <p:cNvSpPr/>
          <p:nvPr/>
        </p:nvSpPr>
        <p:spPr>
          <a:xfrm>
            <a:off x="6126480" y="1371600"/>
            <a:ext cx="2651400" cy="15998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4"/>
          <p:cNvSpPr/>
          <p:nvPr/>
        </p:nvSpPr>
        <p:spPr>
          <a:xfrm>
            <a:off x="6126480" y="1371600"/>
            <a:ext cx="2651400" cy="45360"/>
          </a:xfrm>
          <a:prstGeom prst="rect">
            <a:avLst/>
          </a:prstGeom>
          <a:solidFill>
            <a:srgbClr val="38bfa0"/>
          </a:solidFill>
          <a:ln w="12700">
            <a:solidFill>
              <a:srgbClr val="38bf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5"/>
          <p:cNvSpPr/>
          <p:nvPr/>
        </p:nvSpPr>
        <p:spPr>
          <a:xfrm>
            <a:off x="6236280" y="1463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📱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6"/>
          <p:cNvSpPr/>
          <p:nvPr/>
        </p:nvSpPr>
        <p:spPr>
          <a:xfrm>
            <a:off x="6629400" y="1463040"/>
            <a:ext cx="2029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38bfa0"/>
                </a:solidFill>
                <a:effectLst/>
                <a:uFillTx/>
                <a:latin typeface="Calibri"/>
                <a:ea typeface="Calibri"/>
              </a:rPr>
              <a:t>Responsive design is essential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7"/>
          <p:cNvSpPr/>
          <p:nvPr/>
        </p:nvSpPr>
        <p:spPr>
          <a:xfrm>
            <a:off x="6236280" y="1901880"/>
            <a:ext cx="2431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The hamburger menu and breakpoints were not optional polish — they were required to make the site usable on actual devices.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8"/>
          <p:cNvSpPr/>
          <p:nvPr/>
        </p:nvSpPr>
        <p:spPr>
          <a:xfrm>
            <a:off x="457200" y="3127320"/>
            <a:ext cx="2651400" cy="15998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9"/>
          <p:cNvSpPr/>
          <p:nvPr/>
        </p:nvSpPr>
        <p:spPr>
          <a:xfrm>
            <a:off x="457200" y="3127320"/>
            <a:ext cx="2651400" cy="453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0"/>
          <p:cNvSpPr/>
          <p:nvPr/>
        </p:nvSpPr>
        <p:spPr>
          <a:xfrm>
            <a:off x="567000" y="32187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🐛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1"/>
          <p:cNvSpPr/>
          <p:nvPr/>
        </p:nvSpPr>
        <p:spPr>
          <a:xfrm>
            <a:off x="960120" y="3218760"/>
            <a:ext cx="2029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f43f5e"/>
                </a:solidFill>
                <a:effectLst/>
                <a:uFillTx/>
                <a:latin typeface="Calibri"/>
                <a:ea typeface="Calibri"/>
              </a:rPr>
              <a:t>Debugging is the real skill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2"/>
          <p:cNvSpPr/>
          <p:nvPr/>
        </p:nvSpPr>
        <p:spPr>
          <a:xfrm>
            <a:off x="567000" y="3657600"/>
            <a:ext cx="2431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Event bubbling, sticky positioning, and theme flashes were all bugs we had to diagnose and fix — and each one taught us more than any tutorial.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3"/>
          <p:cNvSpPr/>
          <p:nvPr/>
        </p:nvSpPr>
        <p:spPr>
          <a:xfrm>
            <a:off x="3291840" y="3127320"/>
            <a:ext cx="2651400" cy="15998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4"/>
          <p:cNvSpPr/>
          <p:nvPr/>
        </p:nvSpPr>
        <p:spPr>
          <a:xfrm>
            <a:off x="3291840" y="3127320"/>
            <a:ext cx="2651400" cy="45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5"/>
          <p:cNvSpPr/>
          <p:nvPr/>
        </p:nvSpPr>
        <p:spPr>
          <a:xfrm>
            <a:off x="3401640" y="32187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📝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6"/>
          <p:cNvSpPr/>
          <p:nvPr/>
        </p:nvSpPr>
        <p:spPr>
          <a:xfrm>
            <a:off x="3794760" y="3218760"/>
            <a:ext cx="2029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Documentation is code too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7"/>
          <p:cNvSpPr/>
          <p:nvPr/>
        </p:nvSpPr>
        <p:spPr>
          <a:xfrm>
            <a:off x="3401640" y="3657600"/>
            <a:ext cx="2431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Writing the concepts pages forced us to understand our own code deeply enough to explain it — and revealed gaps we had to go back and fix.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8"/>
          <p:cNvSpPr/>
          <p:nvPr/>
        </p:nvSpPr>
        <p:spPr>
          <a:xfrm>
            <a:off x="6126480" y="3127320"/>
            <a:ext cx="2651400" cy="15998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9"/>
          <p:cNvSpPr/>
          <p:nvPr/>
        </p:nvSpPr>
        <p:spPr>
          <a:xfrm>
            <a:off x="6126480" y="3127320"/>
            <a:ext cx="2651400" cy="45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0"/>
          <p:cNvSpPr/>
          <p:nvPr/>
        </p:nvSpPr>
        <p:spPr>
          <a:xfrm>
            <a:off x="6236280" y="32187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🔀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1"/>
          <p:cNvSpPr/>
          <p:nvPr/>
        </p:nvSpPr>
        <p:spPr>
          <a:xfrm>
            <a:off x="6629400" y="3218760"/>
            <a:ext cx="2029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4f8ef7"/>
                </a:solidFill>
                <a:effectLst/>
                <a:uFillTx/>
                <a:latin typeface="Calibri"/>
                <a:ea typeface="Calibri"/>
              </a:rPr>
              <a:t>Git collaboration takes discipline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2"/>
          <p:cNvSpPr/>
          <p:nvPr/>
        </p:nvSpPr>
        <p:spPr>
          <a:xfrm>
            <a:off x="6236280" y="3657600"/>
            <a:ext cx="2431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Preventing merge conflicts required every team member to pull before pushing and work on branches — a lesson learned the hard way.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/>
          <p:cNvSpPr/>
          <p:nvPr/>
        </p:nvSpPr>
        <p:spPr>
          <a:xfrm>
            <a:off x="-914400" y="-914400"/>
            <a:ext cx="4571640" cy="4571640"/>
          </a:xfrm>
          <a:prstGeom prst="ellipse">
            <a:avLst/>
          </a:prstGeom>
          <a:solidFill>
            <a:srgbClr val="4f8ef7">
              <a:alpha val="8000"/>
            </a:srgbClr>
          </a:solidFill>
          <a:ln w="12700">
            <a:solidFill>
              <a:srgbClr val="4f8ef7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"/>
          <p:cNvSpPr/>
          <p:nvPr/>
        </p:nvSpPr>
        <p:spPr>
          <a:xfrm>
            <a:off x="6400800" y="1828800"/>
            <a:ext cx="4114440" cy="4114440"/>
          </a:xfrm>
          <a:prstGeom prst="ellipse">
            <a:avLst/>
          </a:prstGeom>
          <a:solidFill>
            <a:srgbClr val="38bfa0">
              <a:alpha val="8000"/>
            </a:srgbClr>
          </a:solidFill>
          <a:ln w="12700">
            <a:solidFill>
              <a:srgbClr val="38bfa0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2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"/>
          <p:cNvSpPr/>
          <p:nvPr/>
        </p:nvSpPr>
        <p:spPr>
          <a:xfrm>
            <a:off x="457200" y="109728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Thank You</a:t>
            </a:r>
            <a:endParaRPr b="0" lang="en-US" sz="6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4"/>
          <p:cNvSpPr/>
          <p:nvPr/>
        </p:nvSpPr>
        <p:spPr>
          <a:xfrm>
            <a:off x="457200" y="22860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8a9bb8"/>
                </a:solidFill>
                <a:effectLst/>
                <a:uFillTx/>
                <a:latin typeface="Calibri"/>
                <a:ea typeface="Calibri"/>
              </a:rPr>
              <a:t>DevDocs — A beginner developer documentation website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5"/>
          <p:cNvSpPr/>
          <p:nvPr/>
        </p:nvSpPr>
        <p:spPr>
          <a:xfrm>
            <a:off x="3200400" y="2816280"/>
            <a:ext cx="2743200" cy="360"/>
          </a:xfrm>
          <a:prstGeom prst="line">
            <a:avLst/>
          </a:prstGeom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6"/>
          <p:cNvSpPr/>
          <p:nvPr/>
        </p:nvSpPr>
        <p:spPr>
          <a:xfrm>
            <a:off x="457200" y="29444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f8ef7"/>
                </a:solidFill>
                <a:effectLst/>
                <a:uFillTx/>
                <a:latin typeface="Calibri"/>
                <a:ea typeface="Calibri"/>
              </a:rPr>
              <a:t>Built with HTML · CSS · JavaScript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7"/>
          <p:cNvSpPr/>
          <p:nvPr/>
        </p:nvSpPr>
        <p:spPr>
          <a:xfrm>
            <a:off x="45720" y="4160520"/>
            <a:ext cx="1389600" cy="3470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8"/>
          <p:cNvSpPr/>
          <p:nvPr/>
        </p:nvSpPr>
        <p:spPr>
          <a:xfrm>
            <a:off x="45720" y="4160520"/>
            <a:ext cx="1389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38bfa0"/>
                </a:solidFill>
                <a:effectLst/>
                <a:uFillTx/>
                <a:latin typeface="Calibri"/>
                <a:ea typeface="Calibri"/>
              </a:rPr>
              <a:t>7 Pages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9"/>
          <p:cNvSpPr/>
          <p:nvPr/>
        </p:nvSpPr>
        <p:spPr>
          <a:xfrm>
            <a:off x="1572840" y="4160520"/>
            <a:ext cx="1389600" cy="3470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0"/>
          <p:cNvSpPr/>
          <p:nvPr/>
        </p:nvSpPr>
        <p:spPr>
          <a:xfrm>
            <a:off x="1572840" y="4160520"/>
            <a:ext cx="1389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38bfa0"/>
                </a:solidFill>
                <a:effectLst/>
                <a:uFillTx/>
                <a:latin typeface="Calibri"/>
                <a:ea typeface="Calibri"/>
              </a:rPr>
              <a:t>3 Layers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1"/>
          <p:cNvSpPr/>
          <p:nvPr/>
        </p:nvSpPr>
        <p:spPr>
          <a:xfrm>
            <a:off x="3099960" y="4160520"/>
            <a:ext cx="1389600" cy="3470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2"/>
          <p:cNvSpPr/>
          <p:nvPr/>
        </p:nvSpPr>
        <p:spPr>
          <a:xfrm>
            <a:off x="3099960" y="4160520"/>
            <a:ext cx="1389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38bfa0"/>
                </a:solidFill>
                <a:effectLst/>
                <a:uFillTx/>
                <a:latin typeface="Calibri"/>
                <a:ea typeface="Calibri"/>
              </a:rPr>
              <a:t>2 Concepts Pages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3"/>
          <p:cNvSpPr/>
          <p:nvPr/>
        </p:nvSpPr>
        <p:spPr>
          <a:xfrm>
            <a:off x="4626720" y="4160520"/>
            <a:ext cx="1389600" cy="3470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4"/>
          <p:cNvSpPr/>
          <p:nvPr/>
        </p:nvSpPr>
        <p:spPr>
          <a:xfrm>
            <a:off x="4626720" y="4160520"/>
            <a:ext cx="1389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38bfa0"/>
                </a:solidFill>
                <a:effectLst/>
                <a:uFillTx/>
                <a:latin typeface="Calibri"/>
                <a:ea typeface="Calibri"/>
              </a:rPr>
              <a:t>1 Quiz Engine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5"/>
          <p:cNvSpPr/>
          <p:nvPr/>
        </p:nvSpPr>
        <p:spPr>
          <a:xfrm>
            <a:off x="6153840" y="4160520"/>
            <a:ext cx="1389600" cy="3470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6"/>
          <p:cNvSpPr/>
          <p:nvPr/>
        </p:nvSpPr>
        <p:spPr>
          <a:xfrm>
            <a:off x="6153840" y="4160520"/>
            <a:ext cx="1389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38bfa0"/>
                </a:solidFill>
                <a:effectLst/>
                <a:uFillTx/>
                <a:latin typeface="Calibri"/>
                <a:ea typeface="Calibri"/>
              </a:rPr>
              <a:t>Dark Mode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7"/>
          <p:cNvSpPr/>
          <p:nvPr/>
        </p:nvSpPr>
        <p:spPr>
          <a:xfrm>
            <a:off x="7680960" y="4160520"/>
            <a:ext cx="1389600" cy="347040"/>
          </a:xfrm>
          <a:prstGeom prst="rect">
            <a:avLst/>
          </a:prstGeom>
          <a:solidFill>
            <a:srgbClr val="212d4a"/>
          </a:solidFill>
          <a:ln w="12700">
            <a:solidFill>
              <a:srgbClr val="2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8"/>
          <p:cNvSpPr/>
          <p:nvPr/>
        </p:nvSpPr>
        <p:spPr>
          <a:xfrm>
            <a:off x="7680960" y="4160520"/>
            <a:ext cx="1389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38bfa0"/>
                </a:solidFill>
                <a:effectLst/>
                <a:uFillTx/>
                <a:latin typeface="Calibri"/>
                <a:ea typeface="Calibri"/>
              </a:rPr>
              <a:t>Responsive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LibreOffice/25.2.3.2$Linux_X86_64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2026-03-13T11:47:35Z</dcterms:created>
  <dc:creator>PptxGenJS</dc:creator>
  <dc:description/>
  <dc:language>en-US</dc:language>
  <cp:lastModifiedBy/>
  <dcterms:modified xsi:type="dcterms:W3CDTF">2026-03-13T17:35:49Z</dcterms:modified>
  <cp:revision>2</cp:revision>
  <dc:subject>PptxGenJS Presentation</dc:subject>
  <dc:title>DevDocs — How We Built It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